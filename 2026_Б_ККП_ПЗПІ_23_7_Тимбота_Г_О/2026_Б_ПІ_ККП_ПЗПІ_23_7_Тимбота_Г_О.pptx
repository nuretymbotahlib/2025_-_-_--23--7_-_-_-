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73736"/>
            <a:ext cx="2139696" cy="393192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73736"/>
            <a:ext cx="1920240" cy="4389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834640" y="822960"/>
            <a:ext cx="45720" cy="896112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71800" y="822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</a:rPr>
              <a:t>Освітня платформа для організації</a:t>
            </a:r>
          </a:p>
          <a:p>
            <a:pPr algn="l"/>
            <a:r>
              <a:rPr sz="2200" b="1">
                <a:solidFill>
                  <a:srgbClr val="212121"/>
                </a:solidFill>
              </a:rPr>
              <a:t>віртуального навчального процесу.</a:t>
            </a:r>
          </a:p>
          <a:p>
            <a:pPr algn="l"/>
            <a:r>
              <a:rPr sz="2000" b="1">
                <a:solidFill>
                  <a:srgbClr val="1A73A8"/>
                </a:solidFill>
              </a:rPr>
              <a:t>Клієнтська частина вебзастосунку "Mooden"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8528" y="3630168"/>
            <a:ext cx="506577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12121"/>
                </a:solidFill>
              </a:rPr>
              <a:t>Виконав: </a:t>
            </a:r>
            <a:r>
              <a:rPr sz="1200">
                <a:solidFill>
                  <a:srgbClr val="505050"/>
                </a:solidFill>
              </a:rPr>
              <a:t>Тимбота Гліб Олексійович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12121"/>
                </a:solidFill>
              </a:rPr>
              <a:t>Група: </a:t>
            </a:r>
            <a:r>
              <a:rPr sz="1200">
                <a:solidFill>
                  <a:srgbClr val="505050"/>
                </a:solidFill>
              </a:rPr>
              <a:t>ПЗПІ-23-7, ІІІ курс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12121"/>
                </a:solidFill>
              </a:rPr>
              <a:t>Керівник: </a:t>
            </a:r>
            <a:r>
              <a:rPr sz="1200">
                <a:solidFill>
                  <a:srgbClr val="505050"/>
                </a:solidFill>
              </a:rPr>
              <a:t>ст. викл. кафедри ПІ Олена ОЛІЙНИК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505050"/>
                </a:solidFill>
              </a:rPr>
              <a:t>Червень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47488"/>
            <a:ext cx="9144000" cy="100584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Мета, об'єкт і предмет роботи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1280160"/>
            <a:ext cx="8522208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" y="1280160"/>
            <a:ext cx="54864" cy="8686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353312"/>
            <a:ext cx="8302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73A8"/>
                </a:solidFill>
              </a:rPr>
              <a:t>🎯  МЕТА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664207"/>
            <a:ext cx="83027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Проєктування та реалізація клієнтської частини вебзастосунку Mooden, що забезпечує зручну взаємодію здобувачів і викладачів з освітньою платформою через браузерний інтерфейс.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2286000"/>
            <a:ext cx="8522208" cy="868680"/>
          </a:xfrm>
          <a:prstGeom prst="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0896" y="2286000"/>
            <a:ext cx="54864" cy="8686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2359152"/>
            <a:ext cx="8302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8648"/>
                </a:solidFill>
              </a:rPr>
              <a:t>🔍  ОБ'ЄКТ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70048"/>
            <a:ext cx="83027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Веборієнтована освітня платформа Mooden для організації віртуального навчального процесу.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3291840"/>
            <a:ext cx="8522208" cy="868680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0896" y="3291840"/>
            <a:ext cx="54864" cy="868680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3364992"/>
            <a:ext cx="8302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6C00"/>
                </a:solidFill>
              </a:rPr>
              <a:t>📐  ПРЕДМЕТ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675888"/>
            <a:ext cx="83027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05050"/>
                </a:solidFill>
              </a:rPr>
              <a:t>Методи та засоби проєктування і реалізації клієнтської частини вебзастосунку з урахуванням рольової моделі користувачів.</a:t>
            </a:r>
          </a:p>
        </p:txBody>
      </p:sp>
      <p:pic>
        <p:nvPicPr>
          <p:cNvPr id="16" name="Picture 15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Актуальність і 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10896" y="1280160"/>
            <a:ext cx="182880" cy="1828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Потреба у рольовому інтерфейсі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05050"/>
                </a:solidFill>
              </a:rPr>
              <a:t>Здобувач і викладач мають різні сценарії роботи — один переглядає курси й дедлайни, інший керує завданнями.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965960"/>
            <a:ext cx="182880" cy="1828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Велика кількість навчальних даних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762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05050"/>
                </a:solidFill>
              </a:rPr>
              <a:t>Курси, завдання, профілі, відвідуваність — все має бути доступно швидко і структуровано.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2651760"/>
            <a:ext cx="182880" cy="1828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6060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Зрозумілий зворотній зв'язок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620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505050"/>
                </a:solidFill>
              </a:rPr>
              <a:t>Помилки</a:t>
            </a:r>
            <a:r>
              <a:rPr sz="1100" dirty="0">
                <a:solidFill>
                  <a:srgbClr val="505050"/>
                </a:solidFill>
              </a:rPr>
              <a:t> </a:t>
            </a:r>
            <a:r>
              <a:rPr sz="1100" dirty="0" err="1">
                <a:solidFill>
                  <a:srgbClr val="505050"/>
                </a:solidFill>
              </a:rPr>
              <a:t>завантаження</a:t>
            </a:r>
            <a:r>
              <a:rPr sz="1100" dirty="0">
                <a:solidFill>
                  <a:srgbClr val="505050"/>
                </a:solidFill>
              </a:rPr>
              <a:t>, </a:t>
            </a:r>
            <a:r>
              <a:rPr sz="1100" dirty="0" err="1">
                <a:solidFill>
                  <a:srgbClr val="505050"/>
                </a:solidFill>
              </a:rPr>
              <a:t>порожні</a:t>
            </a:r>
            <a:r>
              <a:rPr sz="1100" dirty="0">
                <a:solidFill>
                  <a:srgbClr val="505050"/>
                </a:solidFill>
              </a:rPr>
              <a:t> </a:t>
            </a:r>
            <a:r>
              <a:rPr sz="1100" dirty="0" err="1">
                <a:solidFill>
                  <a:srgbClr val="505050"/>
                </a:solidFill>
              </a:rPr>
              <a:t>стани</a:t>
            </a:r>
            <a:r>
              <a:rPr sz="1100" dirty="0">
                <a:solidFill>
                  <a:srgbClr val="505050"/>
                </a:solidFill>
              </a:rPr>
              <a:t>, toast-</a:t>
            </a:r>
            <a:r>
              <a:rPr sz="1100" dirty="0" err="1">
                <a:solidFill>
                  <a:srgbClr val="505050"/>
                </a:solidFill>
              </a:rPr>
              <a:t>повідомлення</a:t>
            </a:r>
            <a:r>
              <a:rPr sz="1100" dirty="0">
                <a:solidFill>
                  <a:srgbClr val="505050"/>
                </a:solidFill>
              </a:rPr>
              <a:t> — </a:t>
            </a:r>
            <a:r>
              <a:rPr sz="1100" dirty="0" err="1">
                <a:solidFill>
                  <a:srgbClr val="505050"/>
                </a:solidFill>
              </a:rPr>
              <a:t>необхідні</a:t>
            </a:r>
            <a:r>
              <a:rPr sz="1100" dirty="0">
                <a:solidFill>
                  <a:srgbClr val="505050"/>
                </a:solidFill>
              </a:rPr>
              <a:t> </a:t>
            </a:r>
            <a:r>
              <a:rPr sz="1100" dirty="0" err="1">
                <a:solidFill>
                  <a:srgbClr val="505050"/>
                </a:solidFill>
              </a:rPr>
              <a:t>для</a:t>
            </a:r>
            <a:r>
              <a:rPr sz="1100" dirty="0">
                <a:solidFill>
                  <a:srgbClr val="505050"/>
                </a:solidFill>
              </a:rPr>
              <a:t> </a:t>
            </a:r>
            <a:r>
              <a:rPr sz="1100" dirty="0" err="1">
                <a:solidFill>
                  <a:srgbClr val="505050"/>
                </a:solidFill>
              </a:rPr>
              <a:t>зручної</a:t>
            </a:r>
            <a:r>
              <a:rPr sz="1100" dirty="0">
                <a:solidFill>
                  <a:srgbClr val="505050"/>
                </a:solidFill>
              </a:rPr>
              <a:t> </a:t>
            </a:r>
            <a:r>
              <a:rPr sz="1100" dirty="0" err="1">
                <a:solidFill>
                  <a:srgbClr val="505050"/>
                </a:solidFill>
              </a:rPr>
              <a:t>роботи</a:t>
            </a:r>
            <a:r>
              <a:rPr sz="1100" dirty="0">
                <a:solidFill>
                  <a:srgbClr val="505050"/>
                </a:solidFill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337560"/>
            <a:ext cx="182880" cy="1828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2918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12121"/>
                </a:solidFill>
              </a:rPr>
              <a:t>Узгодженість і навігація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478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05050"/>
                </a:solidFill>
              </a:rPr>
              <a:t>Єдина стилістика, рольова бічна панель, плавні переходи між розділами.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02278" y="971246"/>
            <a:ext cx="1005840" cy="10972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7998" y="1108406"/>
            <a:ext cx="91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👨‍🎓
ЗДОБУВАЧ</a:t>
            </a:r>
          </a:p>
        </p:txBody>
      </p:sp>
      <p:sp>
        <p:nvSpPr>
          <p:cNvPr id="18" name="TextBox 17"/>
          <p:cNvSpPr txBox="1"/>
          <p:nvPr/>
        </p:nvSpPr>
        <p:spPr>
          <a:xfrm rot="5400000">
            <a:off x="6022318" y="2188823"/>
            <a:ext cx="365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CCA677"/>
                </a:solidFill>
              </a:rP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02278" y="2669185"/>
            <a:ext cx="1005840" cy="109728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7998" y="2806345"/>
            <a:ext cx="914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🌐
MOODEN
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0998" y="3017520"/>
            <a:ext cx="365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CCA677"/>
                </a:solidFill>
              </a:rPr>
              <a:t>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39638" y="2687938"/>
            <a:ext cx="1005840" cy="10972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5358" y="2825098"/>
            <a:ext cx="914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👩‍🏫
ВИКЛАДАЧ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277112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1A73A8"/>
                </a:solidFill>
              </a:rPr>
              <a:t>REST API  ·  JWT  ·  JSON</a:t>
            </a:r>
          </a:p>
        </p:txBody>
      </p:sp>
      <p:pic>
        <p:nvPicPr>
          <p:cNvPr id="25" name="Picture 24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Аналіз аналогів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697480" cy="3291840"/>
          </a:xfrm>
          <a:prstGeom prst="rect">
            <a:avLst/>
          </a:prstGeom>
          <a:solidFill>
            <a:srgbClr val="FFEEEE"/>
          </a:solidFill>
          <a:ln w="19050">
            <a:solidFill>
              <a:srgbClr val="E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697480" cy="365760"/>
          </a:xfrm>
          <a:prstGeom prst="rect">
            <a:avLst/>
          </a:prstGeom>
          <a:solidFill>
            <a:srgbClr val="E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2514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Blackboard</a:t>
            </a:r>
            <a:r>
              <a:rPr lang="ru-RU" sz="1300" b="1" dirty="0">
                <a:solidFill>
                  <a:srgbClr val="FFFFFF"/>
                </a:solidFill>
              </a:rPr>
              <a:t> </a:t>
            </a:r>
            <a:r>
              <a:rPr sz="1300" b="1" dirty="0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373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88038"/>
                </a:solidFill>
              </a:rPr>
              <a:t>✓ Розвинена LMS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8038"/>
                </a:solidFill>
              </a:rPr>
              <a:t>✓ Управління курсами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C00000"/>
                </a:solidFill>
              </a:rPr>
              <a:t>✗ Складна навігація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C00000"/>
                </a:solidFill>
              </a:rPr>
              <a:t>✗ Перевантажений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3191256" y="1280160"/>
            <a:ext cx="2697480" cy="3291840"/>
          </a:xfrm>
          <a:prstGeom prst="rect">
            <a:avLst/>
          </a:prstGeom>
          <a:solidFill>
            <a:srgbClr val="EEF4FF"/>
          </a:solidFill>
          <a:ln w="19050">
            <a:solidFill>
              <a:srgbClr val="005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1256" y="1280160"/>
            <a:ext cx="2697480" cy="365760"/>
          </a:xfrm>
          <a:prstGeom prst="rect">
            <a:avLst/>
          </a:prstGeom>
          <a:solidFill>
            <a:srgbClr val="00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82696" y="1316736"/>
            <a:ext cx="2514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</a:rPr>
              <a:t>Microsoft Teams</a:t>
            </a:r>
            <a:r>
              <a:rPr lang="ru-RU" sz="1300" b="1" dirty="0">
                <a:solidFill>
                  <a:srgbClr val="FFFFFF"/>
                </a:solidFill>
              </a:rPr>
              <a:t> </a:t>
            </a:r>
            <a:r>
              <a:rPr sz="1300" b="1" dirty="0">
                <a:solidFill>
                  <a:srgbClr val="FFFFFF"/>
                </a:solidFill>
              </a:rPr>
              <a:t>for 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7373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88038"/>
                </a:solidFill>
              </a:rPr>
              <a:t>✓ Зручна комунікація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8038"/>
                </a:solidFill>
              </a:rPr>
              <a:t>✓ Завдання і оцінки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C00000"/>
                </a:solidFill>
              </a:rPr>
              <a:t>✗ Не повноцінна LMS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C00000"/>
                </a:solidFill>
              </a:rPr>
              <a:t>✗ Відсутня відвідуваність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280160"/>
            <a:ext cx="2697480" cy="3291840"/>
          </a:xfrm>
          <a:prstGeom prst="rect">
            <a:avLst/>
          </a:prstGeom>
          <a:solidFill>
            <a:srgbClr val="EEF6FF"/>
          </a:solidFill>
          <a:ln w="19050">
            <a:solidFill>
              <a:srgbClr val="005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08192" y="1280160"/>
            <a:ext cx="2697480" cy="365760"/>
          </a:xfrm>
          <a:prstGeom prst="rect">
            <a:avLst/>
          </a:prstGeom>
          <a:solidFill>
            <a:srgbClr val="00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131673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Coursera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73736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88038"/>
                </a:solidFill>
              </a:rPr>
              <a:t>✓ Прогрес курсів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8038"/>
                </a:solidFill>
              </a:rPr>
              <a:t>✓ Інтуїтивний UI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C00000"/>
                </a:solidFill>
              </a:rPr>
              <a:t>✗ Слабка роль викладача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C00000"/>
                </a:solidFill>
              </a:rPr>
              <a:t>✗ Немає відвідуваності</a:t>
            </a:r>
          </a:p>
        </p:txBody>
      </p:sp>
      <p:pic>
        <p:nvPicPr>
          <p:cNvPr id="16" name="Picture 15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Порівняння аналогів з Mooden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Критерій</a:t>
                      </a:r>
                    </a:p>
                  </a:txBody>
                  <a:tcPr>
                    <a:solidFill>
                      <a:srgbClr val="1A73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Blackboard</a:t>
                      </a:r>
                    </a:p>
                  </a:txBody>
                  <a:tcPr>
                    <a:solidFill>
                      <a:srgbClr val="1A73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Teams Edu</a:t>
                      </a:r>
                    </a:p>
                  </a:txBody>
                  <a:tcPr>
                    <a:solidFill>
                      <a:srgbClr val="1A73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Coursera</a:t>
                      </a:r>
                    </a:p>
                  </a:txBody>
                  <a:tcPr>
                    <a:solidFill>
                      <a:srgbClr val="1A73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Mooden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Окремі сторінки для ролей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Рольова навігація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Профіль здобувача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Відвідуваність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Сторінки викладача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Простота інтерфейсу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00000"/>
                          </a:solidFill>
                        </a:rP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</a:rPr>
                        <a:t>REST API взаємодія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05050"/>
                          </a:solidFill>
                        </a:rP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864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Постановка задачі та індивідуальний внесок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1234440"/>
            <a:ext cx="2834640" cy="3383280"/>
          </a:xfrm>
          <a:prstGeom prst="rect">
            <a:avLst/>
          </a:prstGeom>
          <a:solidFill>
            <a:srgbClr val="E8F1FB"/>
          </a:solidFill>
          <a:ln w="1905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234440"/>
            <a:ext cx="2834640" cy="45720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🔐 Авторизація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783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index.html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976" y="1234440"/>
            <a:ext cx="2834640" cy="3383280"/>
          </a:xfrm>
          <a:prstGeom prst="rect">
            <a:avLst/>
          </a:prstGeom>
          <a:solidFill>
            <a:srgbClr val="E8F6EC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36976" y="1234440"/>
            <a:ext cx="283464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8416" y="126187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👨‍🎓 Здобувач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1783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student-dashboard.html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student-courses.html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student-tasks.html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student-profile.html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student-course-attendance.html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234440"/>
            <a:ext cx="2834640" cy="3383280"/>
          </a:xfrm>
          <a:prstGeom prst="rect">
            <a:avLst/>
          </a:prstGeom>
          <a:solidFill>
            <a:srgbClr val="FBF3E8"/>
          </a:solidFill>
          <a:ln w="19050">
            <a:solidFill>
              <a:srgbClr val="C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234440"/>
            <a:ext cx="2834640" cy="457200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1261872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👩‍🏫 Викладач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7830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teacher-dashboard.html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teacher-courses.html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teacher-task-detail.html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12121"/>
                </a:solidFill>
                <a:latin typeface="Courier New"/>
              </a:rPr>
              <a:t>▸  teacher-profile.html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617720"/>
            <a:ext cx="2011680" cy="329184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463600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Всього: 10 HTML-сторінок</a:t>
            </a:r>
          </a:p>
        </p:txBody>
      </p:sp>
      <p:pic>
        <p:nvPicPr>
          <p:cNvPr id="18" name="Picture 17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Технологічний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1234440"/>
            <a:ext cx="2834640" cy="3520440"/>
          </a:xfrm>
          <a:prstGeom prst="rect">
            <a:avLst/>
          </a:prstGeom>
          <a:solidFill>
            <a:srgbClr val="E8F1FB"/>
          </a:solidFill>
          <a:ln w="1905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234440"/>
            <a:ext cx="2834640" cy="45720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783080"/>
            <a:ext cx="2560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HTML5 — структура сторінок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CSS3 — стилі, CSS-змінні, адаптивність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JavaScript (ES6+) — логіка, DOM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Fetch API — HTTP-запити до API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localStorage / sessionStorage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976" y="1234440"/>
            <a:ext cx="2834640" cy="3520440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36976" y="1234440"/>
            <a:ext cx="283464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8416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🔗  API ТА АВТОРИЗАЦІЯ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1783080"/>
            <a:ext cx="2560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REST API — взаємодія клієнт-сервер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JWT — токен авторизації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Заголовок Authorization: Bearer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Обробка 401 / 403 → redirect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Рольова перевірка на кожній сторінці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234440"/>
            <a:ext cx="2834640" cy="3520440"/>
          </a:xfrm>
          <a:prstGeom prst="rect">
            <a:avLst/>
          </a:prstGeom>
          <a:solidFill>
            <a:srgbClr val="FBF3E8"/>
          </a:solidFill>
          <a:ln w="19050">
            <a:solidFill>
              <a:srgbClr val="C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234440"/>
            <a:ext cx="2834640" cy="457200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1261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🗄️  BACKEND І ДАНІ
(командна частина)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783080"/>
            <a:ext cx="2560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Node.js — серверне середовище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Express.js — HTTP-маршрутизація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PostgreSQL — реляційна БД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Frontend до БД не звертається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</a:rPr>
              <a:t>• Дані через REST API →JSON</a:t>
            </a:r>
          </a:p>
        </p:txBody>
      </p:sp>
      <p:pic>
        <p:nvPicPr>
          <p:cNvPr id="16" name="Picture 15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Архітектура клієнтської частини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1417320" cy="13258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600200"/>
            <a:ext cx="1307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👤
КОРИСТУВАЧ
(Браузер)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2224" y="19202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0552" y="1417320"/>
            <a:ext cx="1417320" cy="132588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85416" y="1600200"/>
            <a:ext cx="1307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HTML / CSS
/ JavaScript
(Frontend)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202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1063" y="1417320"/>
            <a:ext cx="1417320" cy="13258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95927" y="1600200"/>
            <a:ext cx="1307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REST API
(HTTP/JSON
JWT)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7" y="19202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1575" y="1417320"/>
            <a:ext cx="1417320" cy="1325880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39" y="1600200"/>
            <a:ext cx="1307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Node.js
Express.js
(Backend)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92024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2088" y="1417320"/>
            <a:ext cx="1417320" cy="1325880"/>
          </a:xfrm>
          <a:prstGeom prst="rect">
            <a:avLst/>
          </a:prstGeom>
          <a:solidFill>
            <a:srgbClr val="33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1600200"/>
            <a:ext cx="1307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PostgreSQL
(Database)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3952" y="969264"/>
            <a:ext cx="12125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 dirty="0" err="1">
                <a:solidFill>
                  <a:srgbClr val="505050"/>
                </a:solidFill>
              </a:rPr>
              <a:t>Дії</a:t>
            </a:r>
            <a:r>
              <a:rPr sz="900" i="1" dirty="0">
                <a:solidFill>
                  <a:srgbClr val="505050"/>
                </a:solidFill>
              </a:rPr>
              <a:t>
</a:t>
            </a:r>
            <a:r>
              <a:rPr sz="900" i="1" dirty="0" err="1">
                <a:solidFill>
                  <a:srgbClr val="505050"/>
                </a:solidFill>
              </a:rPr>
              <a:t>користувача</a:t>
            </a:r>
            <a:endParaRPr sz="900" i="1" dirty="0">
              <a:solidFill>
                <a:srgbClr val="505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98312" y="1034269"/>
            <a:ext cx="1064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 dirty="0">
                <a:solidFill>
                  <a:srgbClr val="505050"/>
                </a:solidFill>
              </a:rPr>
              <a:t>fetch()
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7519" y="1033272"/>
            <a:ext cx="867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 dirty="0">
                <a:solidFill>
                  <a:srgbClr val="505050"/>
                </a:solidFill>
              </a:rPr>
              <a:t>JSON
</a:t>
            </a:r>
            <a:r>
              <a:rPr sz="900" i="1" dirty="0" err="1">
                <a:solidFill>
                  <a:srgbClr val="505050"/>
                </a:solidFill>
              </a:rPr>
              <a:t>відповідь</a:t>
            </a:r>
            <a:endParaRPr sz="900" i="1" dirty="0">
              <a:solidFill>
                <a:srgbClr val="50505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5020" y="1054746"/>
            <a:ext cx="73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 dirty="0">
                <a:solidFill>
                  <a:srgbClr val="505050"/>
                </a:solidFill>
              </a:rPr>
              <a:t>SQL
</a:t>
            </a:r>
            <a:r>
              <a:rPr sz="900" i="1" dirty="0" err="1">
                <a:solidFill>
                  <a:srgbClr val="505050"/>
                </a:solidFill>
              </a:rPr>
              <a:t>запити</a:t>
            </a:r>
            <a:endParaRPr sz="900" i="1" dirty="0">
              <a:solidFill>
                <a:srgbClr val="50505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108960"/>
            <a:ext cx="85039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145536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56200"/>
                </a:solidFill>
              </a:rPr>
              <a:t>ℹ️  Клієнтська частина не має прямого доступу до бази даних. Усі дані отримуються виключно через серверний REST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7033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12121"/>
                </a:solidFill>
              </a:rPr>
              <a:t>Спільні JS-модулі:  </a:t>
            </a:r>
            <a:r>
              <a:rPr sz="1100">
                <a:solidFill>
                  <a:srgbClr val="505050"/>
                </a:solidFill>
              </a:rPr>
              <a:t>  ·  auth.js — токен і роль  ·  toast.js — повідомлення  ·  lang.js — мова (UA/EN)  ·  i18n/ — словники</a:t>
            </a:r>
          </a:p>
        </p:txBody>
      </p:sp>
      <p:pic>
        <p:nvPicPr>
          <p:cNvPr id="25" name="Picture 24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Рольова навігація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20440" y="1234440"/>
            <a:ext cx="2103120" cy="548640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66160" y="1280160"/>
            <a:ext cx="20116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🔐 index.html
(Авторизація)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87451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73A8"/>
                </a:solidFill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87451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E8648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4023360" cy="50292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2267712"/>
            <a:ext cx="3931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👨‍🎓 student-dashboard.html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3566160" cy="347472"/>
          </a:xfrm>
          <a:prstGeom prst="rect">
            <a:avLst/>
          </a:prstGeom>
          <a:solidFill>
            <a:srgbClr val="E8F1FB"/>
          </a:solidFill>
          <a:ln w="9525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7121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73A8"/>
                </a:solidFill>
                <a:latin typeface="Courier New"/>
              </a:rPr>
              <a:t>▸  student-courses.html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36976"/>
            <a:ext cx="3566160" cy="347472"/>
          </a:xfrm>
          <a:prstGeom prst="rect">
            <a:avLst/>
          </a:prstGeom>
          <a:solidFill>
            <a:srgbClr val="E8F1FB"/>
          </a:solidFill>
          <a:ln w="9525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2735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73A8"/>
                </a:solidFill>
                <a:latin typeface="Courier New"/>
              </a:rPr>
              <a:t>▸  student-tasks.html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39312"/>
            <a:ext cx="3566160" cy="347472"/>
          </a:xfrm>
          <a:prstGeom prst="rect">
            <a:avLst/>
          </a:prstGeom>
          <a:solidFill>
            <a:srgbClr val="E8F1FB"/>
          </a:solidFill>
          <a:ln w="9525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675887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73A8"/>
                </a:solidFill>
                <a:latin typeface="Courier New"/>
              </a:rPr>
              <a:t>▸  student-profile.html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41648"/>
            <a:ext cx="3566160" cy="347472"/>
          </a:xfrm>
          <a:prstGeom prst="rect">
            <a:avLst/>
          </a:prstGeom>
          <a:solidFill>
            <a:srgbClr val="E8F1FB"/>
          </a:solidFill>
          <a:ln w="9525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78224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73A8"/>
                </a:solidFill>
                <a:latin typeface="Courier New"/>
              </a:rPr>
              <a:t>▸  student-course-attendance.html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40280"/>
            <a:ext cx="40233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2267712"/>
            <a:ext cx="3931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👩‍🏫 teacher-dashboard.html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834640"/>
            <a:ext cx="3566160" cy="347472"/>
          </a:xfrm>
          <a:prstGeom prst="rect">
            <a:avLst/>
          </a:prstGeom>
          <a:solidFill>
            <a:srgbClr val="E8F6EC"/>
          </a:solidFill>
          <a:ln w="9525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287121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E8648"/>
                </a:solidFill>
                <a:latin typeface="Courier New"/>
              </a:rPr>
              <a:t>▸  teacher-courses.html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3236976"/>
            <a:ext cx="3566160" cy="347472"/>
          </a:xfrm>
          <a:prstGeom prst="rect">
            <a:avLst/>
          </a:prstGeom>
          <a:solidFill>
            <a:srgbClr val="E8F6EC"/>
          </a:solidFill>
          <a:ln w="9525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66360" y="32735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E8648"/>
                </a:solidFill>
                <a:latin typeface="Courier New"/>
              </a:rPr>
              <a:t>▸  teacher-task-detail.html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3639312"/>
            <a:ext cx="3566160" cy="347472"/>
          </a:xfrm>
          <a:prstGeom prst="rect">
            <a:avLst/>
          </a:prstGeom>
          <a:solidFill>
            <a:srgbClr val="E8F6EC"/>
          </a:solidFill>
          <a:ln w="9525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66360" y="3675887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E8648"/>
                </a:solidFill>
                <a:latin typeface="Courier New"/>
              </a:rPr>
              <a:t>▸  teacher-profile.html</a:t>
            </a:r>
          </a:p>
        </p:txBody>
      </p:sp>
      <p:pic>
        <p:nvPicPr>
          <p:cNvPr id="26" name="Picture 25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Авторизація та захист сторінок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50292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846320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950">
                <a:solidFill>
                  <a:srgbClr val="888888"/>
                </a:solidFill>
                <a:latin typeface="Courier New"/>
              </a:rPr>
              <a:t>// auth.js — перевірка на кожній сторінці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C592FF"/>
                </a:solidFill>
                <a:latin typeface="Courier New"/>
              </a:rPr>
              <a:t>const token = localStorage.getItem('token');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C592FF"/>
                </a:solidFill>
                <a:latin typeface="Courier New"/>
              </a:rPr>
              <a:t>const role  = localStorage.getItem('userRole');</a:t>
            </a:r>
          </a:p>
          <a:p>
            <a:pPr>
              <a:spcAft>
                <a:spcPts val="100"/>
              </a:spcAft>
            </a:pPr>
            <a:endParaRPr sz="950">
              <a:solidFill>
                <a:srgbClr val="C592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950">
                <a:solidFill>
                  <a:srgbClr val="C592FF"/>
                </a:solidFill>
                <a:latin typeface="Courier New"/>
              </a:rPr>
              <a:t>if (!token) {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  window.location.href = '../index.html';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C592FF"/>
                </a:solidFill>
                <a:latin typeface="Courier New"/>
              </a:rPr>
              <a:t>if (role !== EXPECTED_ROLE) {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  window.location.href = '../index.html';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endParaRPr sz="950">
              <a:solidFill>
                <a:srgbClr val="A8E8FF"/>
              </a:solidFill>
              <a:latin typeface="Courier New"/>
            </a:endParaRPr>
          </a:p>
          <a:p>
            <a:pPr>
              <a:spcAft>
                <a:spcPts val="100"/>
              </a:spcAft>
            </a:pPr>
            <a:r>
              <a:rPr sz="950">
                <a:solidFill>
                  <a:srgbClr val="888888"/>
                </a:solidFill>
                <a:latin typeface="Courier New"/>
              </a:rPr>
              <a:t>// index.html — після успішного входу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C592FF"/>
                </a:solidFill>
                <a:latin typeface="Courier New"/>
              </a:rPr>
              <a:t>const { token, role } = await res.json();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localStorage.setItem('token', token);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localStorage.setItem('userRole', role);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A8E8FF"/>
                </a:solidFill>
                <a:latin typeface="Courier New"/>
              </a:rPr>
              <a:t>redirect(role === 'teacher' ? '/teacher/...' : '/student/...');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532120" y="1234440"/>
            <a:ext cx="3337560" cy="1051560"/>
          </a:xfrm>
          <a:prstGeom prst="rect">
            <a:avLst/>
          </a:prstGeom>
          <a:solidFill>
            <a:srgbClr val="E8F1FB"/>
          </a:solidFill>
          <a:ln w="1905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32120" y="1234440"/>
            <a:ext cx="54864" cy="105156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50992" y="1289304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73A8"/>
                </a:solidFill>
              </a:rPr>
              <a:t>🔑  JWT-токен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1600200"/>
            <a:ext cx="31272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05050"/>
                </a:solidFill>
              </a:rPr>
              <a:t>Кожен запит містить
Authorization: Bearer &lt;token&gt;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2441448"/>
            <a:ext cx="3337560" cy="1051560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32120" y="2441448"/>
            <a:ext cx="54864" cy="10515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50992" y="2496312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7377"/>
                </a:solidFill>
              </a:rPr>
              <a:t>💾  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807208"/>
            <a:ext cx="31272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05050"/>
                </a:solidFill>
              </a:rPr>
              <a:t>Токен і роль зберігаються
піcля успішного входу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3648456"/>
            <a:ext cx="3337560" cy="1051560"/>
          </a:xfrm>
          <a:prstGeom prst="rect">
            <a:avLst/>
          </a:prstGeom>
          <a:solidFill>
            <a:srgbClr val="FBF3E8"/>
          </a:solidFill>
          <a:ln w="19050">
            <a:solidFill>
              <a:srgbClr val="C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32120" y="3648456"/>
            <a:ext cx="54864" cy="1051560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50992" y="3703320"/>
            <a:ext cx="31272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6C00"/>
                </a:solidFill>
              </a:rPr>
              <a:t>🛡️  Role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4014216"/>
            <a:ext cx="31272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05050"/>
                </a:solidFill>
              </a:rPr>
              <a:t>Сторінка при завантаженні
перевіряє role — redirect при невідповідності</a:t>
            </a:r>
          </a:p>
        </p:txBody>
      </p:sp>
      <p:pic>
        <p:nvPicPr>
          <p:cNvPr id="18" name="Picture 17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Сторінка входу (index.html)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669280" cy="3493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280160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A73A8"/>
                </a:solidFill>
              </a:rPr>
              <a:t>📧  Форма входу: </a:t>
            </a:r>
            <a:r>
              <a:rPr sz="1200">
                <a:solidFill>
                  <a:srgbClr val="505050"/>
                </a:solidFill>
              </a:rPr>
              <a:t>Email та пароль з валідацією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65960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A73A8"/>
                </a:solidFill>
              </a:rPr>
              <a:t>👁  Показ пароля: </a:t>
            </a:r>
            <a:r>
              <a:rPr sz="1200">
                <a:solidFill>
                  <a:srgbClr val="505050"/>
                </a:solidFill>
              </a:rPr>
              <a:t>Toggle видимості поля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651760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A73A8"/>
                </a:solidFill>
              </a:rPr>
              <a:t>🌙/☀️  Тема: </a:t>
            </a:r>
            <a:r>
              <a:rPr sz="1200">
                <a:solidFill>
                  <a:srgbClr val="505050"/>
                </a:solidFill>
              </a:rPr>
              <a:t>Перемикання Dark/Light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337560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A73A8"/>
                </a:solidFill>
              </a:rPr>
              <a:t>🇺🇦/🇬🇧  Мова: </a:t>
            </a:r>
            <a:r>
              <a:rPr sz="1200">
                <a:solidFill>
                  <a:srgbClr val="505050"/>
                </a:solidFill>
              </a:rPr>
              <a:t>Локалізація UA /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023360"/>
            <a:ext cx="2834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A73A8"/>
                </a:solidFill>
              </a:rPr>
              <a:t>→  Редирект: </a:t>
            </a:r>
            <a:r>
              <a:rPr sz="1200">
                <a:solidFill>
                  <a:srgbClr val="505050"/>
                </a:solidFill>
              </a:rPr>
              <a:t>Автоматично за роллю після входу</a:t>
            </a:r>
          </a:p>
        </p:txBody>
      </p:sp>
      <p:pic>
        <p:nvPicPr>
          <p:cNvPr id="10" name="Picture 9" descr="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Сторінки здобувача: дашборд та курси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234440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A73A8"/>
                </a:solidFill>
              </a:rPr>
              <a:t>🏠 student-dashboard.html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5270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5050"/>
                </a:solidFill>
              </a:rPr>
              <a:t>• Статистика: курси, бал, монети</a:t>
            </a:r>
          </a:p>
          <a:p>
            <a:r>
              <a:rPr sz="1000">
                <a:solidFill>
                  <a:srgbClr val="505050"/>
                </a:solidFill>
              </a:rPr>
              <a:t>• Картки курсів, дедлайни, оголошення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234440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A73A8"/>
                </a:solidFill>
              </a:rPr>
              <a:t>📚 student-courses.html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270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5050"/>
                </a:solidFill>
              </a:rPr>
              <a:t>• Картки зі статусом (Новий/Активний/Завершений)</a:t>
            </a:r>
          </a:p>
          <a:p>
            <a:r>
              <a:rPr sz="1000">
                <a:solidFill>
                  <a:srgbClr val="505050"/>
                </a:solidFill>
              </a:rPr>
              <a:t>• Прогрес (0–100%), пошук та фільтрація</a:t>
            </a:r>
          </a:p>
        </p:txBody>
      </p:sp>
      <p:pic>
        <p:nvPicPr>
          <p:cNvPr id="8" name="Picture 7" descr="img_student_d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20240"/>
            <a:ext cx="4343400" cy="2331720"/>
          </a:xfrm>
          <a:prstGeom prst="rect">
            <a:avLst/>
          </a:prstGeom>
        </p:spPr>
      </p:pic>
      <p:pic>
        <p:nvPicPr>
          <p:cNvPr id="9" name="Picture 8" descr="img_student_cour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920240"/>
            <a:ext cx="4343400" cy="2331720"/>
          </a:xfrm>
          <a:prstGeom prst="rect">
            <a:avLst/>
          </a:prstGeom>
        </p:spPr>
      </p:pic>
      <p:pic>
        <p:nvPicPr>
          <p:cNvPr id="10" name="Picture 9" descr="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</a:rPr>
              <a:t>Сторінки здобувача: завдання, профіль, відвідуваність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7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student_ta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27889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3401568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73A8"/>
                </a:solidFill>
              </a:rPr>
              <a:t>📋 student-tasks.html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657600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Статуси: виконано/очікує/прострочено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Курс, дедлайн, оцінка</a:t>
            </a:r>
          </a:p>
        </p:txBody>
      </p:sp>
      <p:pic>
        <p:nvPicPr>
          <p:cNvPr id="7" name="Picture 6" descr="img_student_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234440"/>
            <a:ext cx="27889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72968" y="3401568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73A8"/>
                </a:solidFill>
              </a:rPr>
              <a:t>👤 student-profile.html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3657600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Персональні дані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Вкладки: огляд, оцінки, досягнення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Графік активності</a:t>
            </a:r>
          </a:p>
        </p:txBody>
      </p:sp>
      <p:pic>
        <p:nvPicPr>
          <p:cNvPr id="10" name="Picture 9" descr="img_attend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234440"/>
            <a:ext cx="2788920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17336" y="3401568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73A8"/>
                </a:solidFill>
              </a:rPr>
              <a:t>📅 student-course-attendance.html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3657600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Статус присутності на заняттях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505050"/>
                </a:solidFill>
              </a:rPr>
              <a:t>• Відсоток відвідуваності</a:t>
            </a:r>
          </a:p>
        </p:txBody>
      </p:sp>
      <p:pic>
        <p:nvPicPr>
          <p:cNvPr id="13" name="Picture 12" descr="s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Сторінки викладача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teacher_d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19756"/>
            <a:ext cx="420624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27137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>
                <a:solidFill>
                  <a:srgbClr val="2E8648"/>
                </a:solidFill>
              </a:rPr>
              <a:t>🏠 teacher-</a:t>
            </a:r>
            <a:r>
              <a:rPr sz="1050" b="1" dirty="0" err="1">
                <a:solidFill>
                  <a:srgbClr val="2E8648"/>
                </a:solidFill>
              </a:rPr>
              <a:t>dashboard.html</a:t>
            </a:r>
            <a:r>
              <a:rPr sz="1050" b="1" dirty="0">
                <a:solidFill>
                  <a:srgbClr val="2E8648"/>
                </a:solidFill>
              </a:rPr>
              <a:t>  </a:t>
            </a:r>
            <a:r>
              <a:rPr sz="1000" dirty="0">
                <a:solidFill>
                  <a:srgbClr val="505050"/>
                </a:solidFill>
              </a:rPr>
              <a:t>— </a:t>
            </a:r>
            <a:r>
              <a:rPr sz="1000" dirty="0" err="1">
                <a:solidFill>
                  <a:srgbClr val="505050"/>
                </a:solidFill>
              </a:rPr>
              <a:t>Статистика</a:t>
            </a:r>
            <a:r>
              <a:rPr sz="1000" dirty="0">
                <a:solidFill>
                  <a:srgbClr val="505050"/>
                </a:solidFill>
              </a:rPr>
              <a:t>, </a:t>
            </a:r>
            <a:r>
              <a:rPr sz="1000" dirty="0" err="1">
                <a:solidFill>
                  <a:srgbClr val="505050"/>
                </a:solidFill>
              </a:rPr>
              <a:t>черга</a:t>
            </a:r>
            <a:r>
              <a:rPr sz="1000" dirty="0">
                <a:solidFill>
                  <a:srgbClr val="505050"/>
                </a:solidFill>
              </a:rPr>
              <a:t> </a:t>
            </a:r>
            <a:r>
              <a:rPr sz="1000" dirty="0" err="1">
                <a:solidFill>
                  <a:srgbClr val="505050"/>
                </a:solidFill>
              </a:rPr>
              <a:t>перевірки</a:t>
            </a:r>
            <a:endParaRPr sz="1000" dirty="0">
              <a:solidFill>
                <a:srgbClr val="505050"/>
              </a:solidFill>
            </a:endParaRPr>
          </a:p>
        </p:txBody>
      </p:sp>
      <p:pic>
        <p:nvPicPr>
          <p:cNvPr id="6" name="Picture 5" descr="img_teacher_cour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19756"/>
            <a:ext cx="420624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2450592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>
                <a:solidFill>
                  <a:srgbClr val="2E8648"/>
                </a:solidFill>
              </a:rPr>
              <a:t>📚 teacher-</a:t>
            </a:r>
            <a:r>
              <a:rPr sz="1050" b="1" dirty="0" err="1">
                <a:solidFill>
                  <a:srgbClr val="2E8648"/>
                </a:solidFill>
              </a:rPr>
              <a:t>courses.html</a:t>
            </a:r>
            <a:r>
              <a:rPr sz="1050" b="1" dirty="0">
                <a:solidFill>
                  <a:srgbClr val="2E8648"/>
                </a:solidFill>
              </a:rPr>
              <a:t>  </a:t>
            </a:r>
            <a:r>
              <a:rPr sz="1000" dirty="0">
                <a:solidFill>
                  <a:srgbClr val="505050"/>
                </a:solidFill>
              </a:rPr>
              <a:t>— </a:t>
            </a:r>
            <a:r>
              <a:rPr sz="1000" dirty="0" err="1">
                <a:solidFill>
                  <a:srgbClr val="505050"/>
                </a:solidFill>
              </a:rPr>
              <a:t>Картки</a:t>
            </a:r>
            <a:r>
              <a:rPr sz="1000" dirty="0">
                <a:solidFill>
                  <a:srgbClr val="505050"/>
                </a:solidFill>
              </a:rPr>
              <a:t> </a:t>
            </a:r>
            <a:r>
              <a:rPr sz="1000" dirty="0" err="1">
                <a:solidFill>
                  <a:srgbClr val="505050"/>
                </a:solidFill>
              </a:rPr>
              <a:t>курсів</a:t>
            </a:r>
            <a:r>
              <a:rPr sz="1000" dirty="0">
                <a:solidFill>
                  <a:srgbClr val="505050"/>
                </a:solidFill>
              </a:rPr>
              <a:t>, </a:t>
            </a:r>
            <a:r>
              <a:rPr sz="1000" dirty="0" err="1">
                <a:solidFill>
                  <a:srgbClr val="505050"/>
                </a:solidFill>
              </a:rPr>
              <a:t>прогрес</a:t>
            </a:r>
            <a:r>
              <a:rPr sz="1000" dirty="0">
                <a:solidFill>
                  <a:srgbClr val="505050"/>
                </a:solidFill>
              </a:rPr>
              <a:t> </a:t>
            </a:r>
            <a:r>
              <a:rPr sz="1000" dirty="0" err="1">
                <a:solidFill>
                  <a:srgbClr val="505050"/>
                </a:solidFill>
              </a:rPr>
              <a:t>групи</a:t>
            </a:r>
            <a:endParaRPr sz="1000" dirty="0">
              <a:solidFill>
                <a:srgbClr val="505050"/>
              </a:solidFill>
            </a:endParaRPr>
          </a:p>
        </p:txBody>
      </p:sp>
      <p:pic>
        <p:nvPicPr>
          <p:cNvPr id="8" name="Picture 7" descr="img_teacher_t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43200"/>
            <a:ext cx="4206240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411480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8648"/>
                </a:solidFill>
              </a:rPr>
              <a:t>📋 teacher-task-detail.html  </a:t>
            </a:r>
            <a:r>
              <a:rPr sz="1000">
                <a:solidFill>
                  <a:srgbClr val="505050"/>
                </a:solidFill>
              </a:rPr>
              <a:t>— Деталі завдання, подані роботи</a:t>
            </a:r>
          </a:p>
        </p:txBody>
      </p:sp>
      <p:pic>
        <p:nvPicPr>
          <p:cNvPr id="10" name="Picture 9" descr="img_teacher_prof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743200"/>
            <a:ext cx="4206240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411480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8648"/>
                </a:solidFill>
              </a:rPr>
              <a:t>👤 teacher-profile.html  </a:t>
            </a:r>
            <a:r>
              <a:rPr sz="1000">
                <a:solidFill>
                  <a:srgbClr val="505050"/>
                </a:solidFill>
              </a:rPr>
              <a:t>— ПІБ, посада, кафедра, курси</a:t>
            </a:r>
          </a:p>
        </p:txBody>
      </p:sp>
      <p:pic>
        <p:nvPicPr>
          <p:cNvPr id="12" name="Picture 11" descr="se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Взаємодія з REST API та обробка станів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234440" cy="658368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990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Сторінка
завантаж.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5336" y="149047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325880"/>
            <a:ext cx="1234440" cy="658368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3990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Перевірка
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49047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1234440" cy="65836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3990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fetch()
запит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49047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325880"/>
            <a:ext cx="1234440" cy="65836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3990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JSON
відповідь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149047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1234440" cy="658368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3990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Рендеринг
даних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5" y="149047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CA67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1325880"/>
            <a:ext cx="1234440" cy="658368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1399032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Обробка
помилки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49424"/>
            <a:ext cx="2057400" cy="2377440"/>
          </a:xfrm>
          <a:prstGeom prst="rect">
            <a:avLst/>
          </a:prstGeom>
          <a:solidFill>
            <a:srgbClr val="E8F1FB"/>
          </a:solidFill>
          <a:ln w="19050">
            <a:solidFill>
              <a:srgbClr val="1A7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2249424"/>
            <a:ext cx="2057400" cy="420624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286000"/>
            <a:ext cx="1920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⏳  Loading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12121"/>
                </a:solidFill>
              </a:rPr>
              <a:t>Skeleton або спінер
під час fetch-запиту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456" y="2249424"/>
            <a:ext cx="2057400" cy="2377440"/>
          </a:xfrm>
          <a:prstGeom prst="rect">
            <a:avLst/>
          </a:prstGeom>
          <a:solidFill>
            <a:srgbClr val="E8F5F5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05456" y="2249424"/>
            <a:ext cx="2057400" cy="42062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78608" y="2286000"/>
            <a:ext cx="1920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📭  Empty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2761488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12121"/>
                </a:solidFill>
              </a:rPr>
              <a:t>Повідомлення при
відсутності даних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6592" y="2249424"/>
            <a:ext cx="2057400" cy="2377440"/>
          </a:xfrm>
          <a:prstGeom prst="rect">
            <a:avLst/>
          </a:prstGeom>
          <a:solidFill>
            <a:srgbClr val="E8F6EC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36592" y="2249424"/>
            <a:ext cx="2057400" cy="42062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9744" y="2286000"/>
            <a:ext cx="1920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✅  Toast notice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761488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12121"/>
                </a:solidFill>
              </a:rPr>
              <a:t>Короткі повідомлення
про результат дії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67728" y="2249424"/>
            <a:ext cx="2057400" cy="2377440"/>
          </a:xfrm>
          <a:prstGeom prst="rect">
            <a:avLst/>
          </a:prstGeom>
          <a:solidFill>
            <a:srgbClr val="FFEEEE"/>
          </a:solidFill>
          <a:ln w="1905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67728" y="2249424"/>
            <a:ext cx="2057400" cy="42062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2286000"/>
            <a:ext cx="1920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⚠️  Error handling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7456" y="2761488"/>
            <a:ext cx="184708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12121"/>
                </a:solidFill>
              </a:rPr>
              <a:t>401/403 → redirect
SERVER_ERROR → toast</a:t>
            </a:r>
          </a:p>
        </p:txBody>
      </p:sp>
      <p:pic>
        <p:nvPicPr>
          <p:cNvPr id="37" name="Picture 36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Тестування та аналіз результатів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5577840" cy="2971800"/>
          </a:xfrm>
          <a:prstGeom prst="rect">
            <a:avLst/>
          </a:prstGeom>
          <a:solidFill>
            <a:srgbClr val="F8FFF8"/>
          </a:solidFill>
          <a:ln w="1270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5349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Авторизація: email, пароль, JWT-токен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Role redirect: student → /student/, teacher → /teacher/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Сторінки здобувача (5 шт.) — всі завантажують дані через API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Сторінки викладача (4 шт.) — повністю реалізовані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Завантаження та рендеринг даних з API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Обробка помилок (401, 403, network error)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Локалізація UA / EN — без перезавантаження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2E8648"/>
                </a:solidFill>
              </a:rPr>
              <a:t>✓  </a:t>
            </a:r>
            <a:r>
              <a:rPr sz="1100">
                <a:solidFill>
                  <a:srgbClr val="212121"/>
                </a:solidFill>
              </a:rPr>
              <a:t>Темна тема — CSS-змінні для всіх сторінок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280160"/>
            <a:ext cx="2834640" cy="960120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1335024"/>
            <a:ext cx="27432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922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реалізованих
HTML-сторінок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359152"/>
            <a:ext cx="2834640" cy="9601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2414016"/>
            <a:ext cx="27432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712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ролі:
здобувач та викладач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3438144"/>
            <a:ext cx="2834640" cy="960120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3493008"/>
            <a:ext cx="27432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950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покриття
функціональних вимог</a:t>
            </a:r>
          </a:p>
        </p:txBody>
      </p:sp>
      <p:pic>
        <p:nvPicPr>
          <p:cNvPr id="15" name="Picture 14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</a:rPr>
              <a:t>Підсумки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30352"/>
            <a:ext cx="8595360" cy="36576"/>
          </a:xfrm>
          <a:prstGeom prst="rect">
            <a:avLst/>
          </a:prstGeom>
          <a:solidFill>
            <a:srgbClr val="CC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074920" cy="1133856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" cy="1133856"/>
          </a:xfrm>
          <a:prstGeom prst="rect">
            <a:avLst/>
          </a:prstGeom>
          <a:solidFill>
            <a:srgbClr val="1A7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122529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73A8"/>
                </a:solidFill>
              </a:rPr>
              <a:t>🏆  Результат роботи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517904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050"/>
                </a:solidFill>
              </a:rPr>
              <a:t>▸  Створено 10 HTML-сторінок: авторизація, 5 сторінок здобувача, 4 сторінки викладача.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050"/>
                </a:solidFill>
              </a:rPr>
              <a:t>▸  Рольова навігація, REST API, обробка помилок, локалізація UA/EN, темна тема.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5074920" cy="1133856"/>
          </a:xfrm>
          <a:prstGeom prst="rect">
            <a:avLst/>
          </a:prstGeom>
          <a:solidFill>
            <a:srgbClr val="E8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432304"/>
            <a:ext cx="64008" cy="1133856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24688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8648"/>
                </a:solidFill>
              </a:rPr>
              <a:t>🔧  Практична цінність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2761488"/>
            <a:ext cx="4846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505050"/>
                </a:solidFill>
              </a:rPr>
              <a:t>▸  Набір сторінок готовий до інтеграції в єдину систему Mooden.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05050"/>
                </a:solidFill>
              </a:rPr>
              <a:t>▸  Підтримує JWT-авторизацію, role guard та Fetch API взаємодію.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188720"/>
            <a:ext cx="3383280" cy="2999232"/>
          </a:xfrm>
          <a:prstGeom prst="rect">
            <a:avLst/>
          </a:prstGeom>
          <a:solidFill>
            <a:srgbClr val="FB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0" y="1188720"/>
            <a:ext cx="64008" cy="2999232"/>
          </a:xfrm>
          <a:prstGeom prst="rect">
            <a:avLst/>
          </a:prstGeom>
          <a:solidFill>
            <a:srgbClr val="C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32704" y="1225296"/>
            <a:ext cx="3163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6C00"/>
                </a:solidFill>
              </a:rPr>
              <a:t>🚀  Напрями розвитку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1554480"/>
            <a:ext cx="3163824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505050"/>
                </a:solidFill>
              </a:rPr>
              <a:t>▸  Адаптивний мобільний дизайн та PWA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505050"/>
                </a:solidFill>
              </a:rPr>
              <a:t>▸  Сповіщення в реальному часі (WebSocket)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505050"/>
                </a:solidFill>
              </a:rPr>
              <a:t>▸  Розширення функцій викладача (оцінювання)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505050"/>
                </a:solidFill>
              </a:rPr>
              <a:t>▸  Поглиблена аналітика навчального процесу</a:t>
            </a:r>
          </a:p>
        </p:txBody>
      </p:sp>
      <p:pic>
        <p:nvPicPr>
          <p:cNvPr id="16" name="Picture 15" descr="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4361688"/>
            <a:ext cx="859536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78240" y="4608576"/>
            <a:ext cx="32918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12121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1250</Words>
  <Application>Microsoft Macintosh PowerPoint</Application>
  <PresentationFormat>On-screen Show (16:9)</PresentationFormat>
  <Paragraphs>264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Hlib Tymbota</cp:lastModifiedBy>
  <cp:revision>6</cp:revision>
  <dcterms:created xsi:type="dcterms:W3CDTF">2013-01-27T09:14:16Z</dcterms:created>
  <dcterms:modified xsi:type="dcterms:W3CDTF">2026-06-07T08:33:23Z</dcterms:modified>
  <cp:category/>
</cp:coreProperties>
</file>